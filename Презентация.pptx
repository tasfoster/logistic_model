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10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3D73F-E046-40DF-AE7B-62EF582EB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D426D7-32DD-436F-87E3-B52C05A6A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04AB90-879B-48EE-B2D7-AA27A536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47CE83-BDE0-4E85-8ACB-DC1BACE7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94BEA8-1036-4311-B950-7E1726CCB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85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B1396-3D33-4733-BBF1-4B9DA44C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3E827-2F59-467E-918D-34E2F2699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222245-CDFF-4F90-8438-54E4C722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322E51-1FCF-47C2-84AF-9E72BB88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9F0AFC-2F7C-45D0-85BC-1E85870B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09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5122D-99C6-4B37-9BFB-652B63A2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D164B7-4B8C-47C9-B954-FF908571A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053DB6-113D-4E06-8C3B-B8253394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1AAA07-628E-4A04-97DC-AD232B61D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5D6454-444E-475C-B89F-37088D3A6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26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E66C5-3CB2-4053-8A5F-54E145D0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5F7768-0054-4F70-8998-9417F62F8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192FAA-C86B-47E6-AE56-29E15BAE7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9080D1-FFD9-4DDD-BD52-4BE2757F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DD6533-4595-4FE5-A9B3-C362F2A0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15E234-D9C9-4349-9301-90395CC4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19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A5D95-7ED9-4186-A39F-DD8B55A56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2374AD-8C52-422E-814A-F73C958E1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C738AC-BF14-440D-946B-F384D1E9A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583C855-DB6A-4360-B13F-0BC2027E0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8BB320-20C4-4F44-B469-C0ACB1BC7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FB18C0B-C13D-4FE4-9E82-87A6EA31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D26DDB-57F2-454F-BEDF-844E3F73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4BA270-E465-4AD2-8022-A7AD0BF7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5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E11FC-0777-49DC-AA0E-68013AC1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3D89F4-FDFC-4BA0-80C3-17B41D36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1C7E1A-BE1B-4923-BE4B-9A714BE6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6500DD-6EF4-455D-817C-8E2A1BA8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888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AE8D430-BFA9-4ABD-A073-DD9A2FB5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77F6C8-7BF5-4508-BD07-68E5B182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EB41FF-0280-4E12-A00B-C7C0C0CE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97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AC2EA-BD12-49BF-AEBC-D2515B7A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E95539-9598-44BC-B388-F8FC71444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D7921E-452B-4043-AF95-B84CF8442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9E4771-C373-4DCF-9E31-9760850E9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DEC48A-CE6C-4CAD-8F52-C3C2131A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5F26D1-4137-470B-B06B-C34BC698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67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7CF87-E9A2-4E7B-B103-CE985686D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D5325D-391D-4A4F-8410-CB6C717E1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820922-6F6C-40ED-BE32-A756920DF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A0EF16-0D9C-43BE-AE3E-41D302DC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2A873B-4FE6-40B3-9B87-2B8F83CB6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37B7FC-E27A-4380-A124-E32934BB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87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277E7-4C7B-434C-B5BA-94D47F83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BAA709-9B21-4836-9967-7E3A13613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10400F-11B8-4BEE-83F4-F3FC48A5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420942-9645-4DDA-9C36-3FA0B5D9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C65D33-34C8-4FD4-B5DF-3BBE2DE8A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3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AEFA64-9CB8-4033-B129-732E1CDDC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67D64C-3B14-4A94-9CDE-8B0D76AE9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9A919-9A41-4045-8199-558BCCC7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740598-17D8-4D80-AE16-C66A93FA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AF10CF-A93F-44D6-844A-AD7790A6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1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E5816-E104-4ECD-B1C4-9EECC894D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20544A-22DE-4BFC-842D-BDC4C1010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CEBF30-84AD-43F1-AFE8-51E21B015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F2BF8-372C-4338-BA0C-AA98400F401B}" type="datetimeFigureOut">
              <a:rPr lang="ru-RU" smtClean="0"/>
              <a:t>31.07.2026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41832D-A4B0-43B6-9960-C339A36EA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284DAC-5EE8-476A-85F2-DADF3A68E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C8FE4-7E52-432A-86E6-7C82744793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88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46586E-BF95-4D89-8D5B-E0D3085ACD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9DA99-B119-4EA1-A97F-ED831EE38DFE}"/>
              </a:ext>
            </a:extLst>
          </p:cNvPr>
          <p:cNvSpPr txBox="1"/>
          <p:nvPr/>
        </p:nvSpPr>
        <p:spPr>
          <a:xfrm>
            <a:off x="762000" y="2095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spcAft>
                <a:spcPts val="800"/>
              </a:spcAft>
            </a:pPr>
            <a:r>
              <a:rPr lang="ru-RU" sz="4000" b="1">
                <a:solidFill>
                  <a:srgbClr val="FFFFFF"/>
                </a:solidFill>
                <a:latin typeface="Segoe UI" panose="020B0502040204020203" pitchFamily="34" charset="0"/>
              </a:rPr>
              <a:t>Граф-конструктор сортировочного центра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90B5D9-B9E7-4B87-B517-0531CF908B5F}"/>
              </a:ext>
            </a:extLst>
          </p:cNvPr>
          <p:cNvSpPr/>
          <p:nvPr/>
        </p:nvSpPr>
        <p:spPr>
          <a:xfrm>
            <a:off x="5461000" y="3810000"/>
            <a:ext cx="1270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0DCFD-4604-4C21-8924-CB36A595FBEF}"/>
              </a:ext>
            </a:extLst>
          </p:cNvPr>
          <p:cNvSpPr txBox="1"/>
          <p:nvPr/>
        </p:nvSpPr>
        <p:spPr>
          <a:xfrm>
            <a:off x="1016000" y="39624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spcAft>
                <a:spcPts val="800"/>
              </a:spcAft>
            </a:pPr>
            <a:r>
              <a:rPr lang="ru-RU" sz="1900">
                <a:solidFill>
                  <a:srgbClr val="2DD4BF"/>
                </a:solidFill>
                <a:latin typeface="Segoe UI" panose="020B0502040204020203" pitchFamily="34" charset="0"/>
              </a:rPr>
              <a:t>Аналитическая + имитационная модель на одном графе · 100 000 товаров/ч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A5848-97FA-4C66-B831-7B42607894CA}"/>
              </a:ext>
            </a:extLst>
          </p:cNvPr>
          <p:cNvSpPr txBox="1"/>
          <p:nvPr/>
        </p:nvSpPr>
        <p:spPr>
          <a:xfrm>
            <a:off x="1016000" y="48768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spcAft>
                <a:spcPts val="800"/>
              </a:spcAft>
            </a:pPr>
            <a:r>
              <a:rPr lang="ru-RU" sz="1300">
                <a:solidFill>
                  <a:srgbClr val="94A3B8"/>
                </a:solidFill>
                <a:latin typeface="Segoe UI" panose="020B0502040204020203" pitchFamily="34" charset="0"/>
              </a:rPr>
              <a:t>Шустов Станислав — аналитическая модель    ·    Бисаров Алексей — имитационная модель</a:t>
            </a:r>
          </a:p>
          <a:p>
            <a:pPr algn="ctr">
              <a:spcAft>
                <a:spcPts val="800"/>
              </a:spcAft>
            </a:pPr>
            <a:r>
              <a:rPr lang="ru-RU" sz="1300">
                <a:solidFill>
                  <a:srgbClr val="94A3B8"/>
                </a:solidFill>
                <a:latin typeface="Segoe UI" panose="020B0502040204020203" pitchFamily="34" charset="0"/>
              </a:rPr>
              <a:t>Трек 1: Имитационное моделирование потоков в сортировочном центре</a:t>
            </a:r>
          </a:p>
        </p:txBody>
      </p:sp>
    </p:spTree>
    <p:extLst>
      <p:ext uri="{BB962C8B-B14F-4D97-AF65-F5344CB8AC3E}">
        <p14:creationId xmlns:p14="http://schemas.microsoft.com/office/powerpoint/2010/main" val="426601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C0ECE5-5632-4BAB-A4D4-AF415E151A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64C0ED2-8B7F-4B02-A077-529DAE6A696D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3BAAF-CED2-48F9-BF42-DAD3F684CF6C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Постановка задачи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C8D8CA-673E-42C3-8D2A-784388BAF62B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8E1537-F844-4F4F-BA93-650A010B3E7C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C3D5F-BE16-4BC2-9A25-2098FB029294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2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D072-55F3-4635-BD1F-03EABAFC71BA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Входящий поток 100 000 товаров/ч = 185 палет/ч = 3 700 КТЯ/ч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400 направлений отправки; неравнозначны: 20 % направлений дают до 80 % объёма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Товары в КТЯ 600×400 мм по 27 шт; палета 800×1200 по 20 КТЯ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Часть товаров — nonsort (форма/хрупкость/штрихкод): отдельный возвратный поток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Оборот тары: 80 % КТЯ реюз, 20 % в брак, восполняются новыми коробами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Отгрузка: 24 ворот, машина = 16 палет за 2 ч; ориентир по площади 20 000–24 000 м²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Требуется: концепция + модель + отчёт (без отчёта решение не принимается)</a:t>
            </a:r>
          </a:p>
        </p:txBody>
      </p:sp>
    </p:spTree>
    <p:extLst>
      <p:ext uri="{BB962C8B-B14F-4D97-AF65-F5344CB8AC3E}">
        <p14:creationId xmlns:p14="http://schemas.microsoft.com/office/powerpoint/2010/main" val="256197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BEFAA8-D720-4A6D-B500-3C1E20AB60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755D29-3F01-495D-A12E-AB99BA53B344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E6199-6C10-466E-99E3-9729C55493B9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Подход: один граф — две независимые модели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8BC4CE-E2D4-476F-BCB6-5643BE3D90FB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A0652-DFCA-4454-A3FC-85D9A37FE09B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68280-8019-496D-AF4D-F588AD0249CC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3 / 13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2316F28-79D0-45FB-AA21-FD54C94D7874}"/>
              </a:ext>
            </a:extLst>
          </p:cNvPr>
          <p:cNvSpPr/>
          <p:nvPr/>
        </p:nvSpPr>
        <p:spPr>
          <a:xfrm>
            <a:off x="3556000" y="1371600"/>
            <a:ext cx="5080000" cy="787400"/>
          </a:xfrm>
          <a:prstGeom prst="roundRect">
            <a:avLst/>
          </a:prstGeom>
          <a:solidFill>
            <a:srgbClr val="16263C"/>
          </a:solidFill>
          <a:ln w="19050">
            <a:solidFill>
              <a:srgbClr val="2DD4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ФАЙЛ ГРАФА (JSON)</a:t>
            </a:r>
          </a:p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узлы · рёбра · ресурсы · буферы · направления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5A84BE5-4469-4F16-BE9F-88ACDB97FD26}"/>
              </a:ext>
            </a:extLst>
          </p:cNvPr>
          <p:cNvSpPr/>
          <p:nvPr/>
        </p:nvSpPr>
        <p:spPr>
          <a:xfrm>
            <a:off x="1397000" y="3124200"/>
            <a:ext cx="4191000" cy="939800"/>
          </a:xfrm>
          <a:prstGeom prst="roundRect">
            <a:avLst/>
          </a:prstGeom>
          <a:solidFill>
            <a:srgbClr val="16263C"/>
          </a:solidFill>
          <a:ln w="19050">
            <a:solidFill>
              <a:srgbClr val="2DD4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АНАЛИТИКА</a:t>
            </a:r>
          </a:p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балансы «в час», проектирует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93C9710-F544-457D-B0D2-BC05BDF6F704}"/>
              </a:ext>
            </a:extLst>
          </p:cNvPr>
          <p:cNvSpPr/>
          <p:nvPr/>
        </p:nvSpPr>
        <p:spPr>
          <a:xfrm>
            <a:off x="6604000" y="3124200"/>
            <a:ext cx="4191000" cy="939800"/>
          </a:xfrm>
          <a:prstGeom prst="roundRect">
            <a:avLst/>
          </a:prstGeom>
          <a:solidFill>
            <a:srgbClr val="16263C"/>
          </a:solidFill>
          <a:ln w="1905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ИМИТАЦИЯ (SimPy)</a:t>
            </a:r>
          </a:p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события во времени, стресс-тест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EA2AFC1-EEA1-46C6-A9FA-9B665A636F98}"/>
              </a:ext>
            </a:extLst>
          </p:cNvPr>
          <p:cNvSpPr/>
          <p:nvPr/>
        </p:nvSpPr>
        <p:spPr>
          <a:xfrm>
            <a:off x="3556000" y="4927600"/>
            <a:ext cx="5080000" cy="736600"/>
          </a:xfrm>
          <a:prstGeom prst="roundRect">
            <a:avLst/>
          </a:prstGeom>
          <a:solidFill>
            <a:srgbClr val="16263C"/>
          </a:solidFill>
          <a:ln w="19050">
            <a:solidFill>
              <a:srgbClr val="2DD4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СВЕРКА</a:t>
            </a:r>
          </a:p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узел — аналитика — симуляция — расхождение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EA4EB35-177C-4D53-934D-D93A7634ECA1}"/>
              </a:ext>
            </a:extLst>
          </p:cNvPr>
          <p:cNvCxnSpPr/>
          <p:nvPr/>
        </p:nvCxnSpPr>
        <p:spPr>
          <a:xfrm flipH="1">
            <a:off x="3810000" y="2159000"/>
            <a:ext cx="1651000" cy="9652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95316AB-544A-4F5B-BD81-A8E5110EEBFA}"/>
              </a:ext>
            </a:extLst>
          </p:cNvPr>
          <p:cNvCxnSpPr/>
          <p:nvPr/>
        </p:nvCxnSpPr>
        <p:spPr>
          <a:xfrm>
            <a:off x="6858000" y="2159000"/>
            <a:ext cx="1651000" cy="9652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74D13E8-1F85-400C-852A-04B762A01F05}"/>
              </a:ext>
            </a:extLst>
          </p:cNvPr>
          <p:cNvCxnSpPr/>
          <p:nvPr/>
        </p:nvCxnSpPr>
        <p:spPr>
          <a:xfrm>
            <a:off x="3810000" y="4064000"/>
            <a:ext cx="1778000" cy="8636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E9B9411-5ACB-4174-9370-E8E7FE7E91D5}"/>
              </a:ext>
            </a:extLst>
          </p:cNvPr>
          <p:cNvCxnSpPr/>
          <p:nvPr/>
        </p:nvCxnSpPr>
        <p:spPr>
          <a:xfrm flipH="1">
            <a:off x="6858000" y="4064000"/>
            <a:ext cx="1651000" cy="8636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2A048F-2683-4A23-A241-078F8260B33C}"/>
              </a:ext>
            </a:extLst>
          </p:cNvPr>
          <p:cNvSpPr txBox="1"/>
          <p:nvPr/>
        </p:nvSpPr>
        <p:spPr>
          <a:xfrm>
            <a:off x="762000" y="5867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>
              <a:spcAft>
                <a:spcPts val="800"/>
              </a:spcAft>
            </a:pPr>
            <a:r>
              <a:rPr lang="ru-RU" sz="1400">
                <a:solidFill>
                  <a:srgbClr val="F59E0B"/>
                </a:solidFill>
                <a:latin typeface="Segoe UI" panose="020B0502040204020203" pitchFamily="34" charset="0"/>
              </a:rPr>
              <a:t>Один источник правды. Две модели считают по-разному и проверяют друг друга.</a:t>
            </a:r>
          </a:p>
        </p:txBody>
      </p:sp>
    </p:spTree>
    <p:extLst>
      <p:ext uri="{BB962C8B-B14F-4D97-AF65-F5344CB8AC3E}">
        <p14:creationId xmlns:p14="http://schemas.microsoft.com/office/powerpoint/2010/main" val="427810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524550-D878-4AE6-8BF3-5E71A67B4D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017852-6A41-4E22-B1C3-038F03E50A2E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7DEBC-A310-4CC3-81D9-0A15771FD30C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Аналитическая модель (проектирует конфигурацию)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D7344FF-45CA-4517-B21A-080E2675D007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D62B3-D9F1-4F7B-B2D1-1FBA220ED8CF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E91EC-A919-4E18-A8D0-72F776593FA4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4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DACEB-4D02-4444-8ED5-FBB2A96CD3FC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Считает мгновенно, без оси времени: интенсивности потоков «штук в час»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Балансы по узлам: втекает = вытекает; циклы тары замыкает узел-источник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Размерение ресурсов: минимум единиц под поток (сортировка 11/10, упаковка 4/3)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Штат, парк техники, площадь — суммированием по узлам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Узкое место — вскрытие КТЯ ~92.6 %; предельный поток ~108 000 товаров/ч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Чистый Python, без внешних зависимостей — запускается где угодно</a:t>
            </a:r>
          </a:p>
        </p:txBody>
      </p:sp>
    </p:spTree>
    <p:extLst>
      <p:ext uri="{BB962C8B-B14F-4D97-AF65-F5344CB8AC3E}">
        <p14:creationId xmlns:p14="http://schemas.microsoft.com/office/powerpoint/2010/main" val="67102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EA66AC-6146-4C74-88FF-6417FC6DF7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9CECBE-EEF9-4495-88BA-59A9750D015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A73B5-2823-4C46-AB19-0B5C5700591B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Имитационная модель (стресс-тестирует конфигурацию)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3B6A471-82F1-49DC-84F4-1C80FCBFD416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CE361-1B98-43C0-AD37-A2F9D0C504CD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03B46-F7DD-4EAB-8609-25E6577C9571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5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CA727-05C6-4E52-BD47-1DC9777C9396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Дискретно-событийная симуляция на SimPy: узлы = процессы, рёбра = ограниченные буферы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Полный буфер приостанавливает источник → блокировка и каскадная деградация возникают сами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Учёт времени: работа + блокировка + голодание + отказ = 100 % (различает болезни)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Ловит то, чего аналитика не видит: очереди, время товара в центре, пики, отказы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Погрузчики — не узлы, а пул на рёбрах; упаковка копит товары по направлениям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Метрики на интервалах 1 мин / 1 ч / 12 ч / 24 ч</a:t>
            </a:r>
          </a:p>
        </p:txBody>
      </p:sp>
    </p:spTree>
    <p:extLst>
      <p:ext uri="{BB962C8B-B14F-4D97-AF65-F5344CB8AC3E}">
        <p14:creationId xmlns:p14="http://schemas.microsoft.com/office/powerpoint/2010/main" val="75375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7C9FEF-217A-4BD5-B54A-523E880462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3335E6-329D-429F-BA68-296DC714EAD0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22C7F-11EF-44B4-880E-FDBE2583AB3E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Состав процессов — единая связная система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847996-3C05-41DF-8F7B-A12B73A59AA1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5B676-CD5F-4D49-A677-B588C8A60A4C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06934-49F4-4001-85AC-112F3FD7DC04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6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9B634-1D85-4357-A829-ED02BD65E2B4}"/>
              </a:ext>
            </a:extLst>
          </p:cNvPr>
          <p:cNvSpPr txBox="1"/>
          <p:nvPr/>
        </p:nvSpPr>
        <p:spPr>
          <a:xfrm>
            <a:off x="635000" y="1524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Приёмка палет (185 палет/ч)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Вскрытие палет, транспортировка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Вскрытие КТЯ, установка коробов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Перекладка товаров на сортировку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Автосортировка по направлениям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Возврат nonsort (ручной разбор)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Упаковка (27 товаров → 1 КТЯ)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3D7A7-9197-408B-92EA-5F5F955DAD99}"/>
              </a:ext>
            </a:extLst>
          </p:cNvPr>
          <p:cNvSpPr txBox="1"/>
          <p:nvPr/>
        </p:nvSpPr>
        <p:spPr>
          <a:xfrm>
            <a:off x="6350000" y="1524000"/>
            <a:ext cx="5257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Оборот тары 80/20 + новые КТЯ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Заклейка КТЯ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Сортировка КТЯ по направлениям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Палетизация (20 КТЯ → 1 палета)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Отгрузка через 24 ворот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Погрузчики (мобильный ресурс)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Накопители по направлениям</a:t>
            </a:r>
          </a:p>
        </p:txBody>
      </p:sp>
    </p:spTree>
    <p:extLst>
      <p:ext uri="{BB962C8B-B14F-4D97-AF65-F5344CB8AC3E}">
        <p14:creationId xmlns:p14="http://schemas.microsoft.com/office/powerpoint/2010/main" val="316921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31796E-4D64-42DC-8C39-57B1B2C7A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736F93-03A6-48D1-96AC-66123A8E8272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7345A-E6DB-4C11-833D-5055FA095D5B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Специальные потоки и найденные эффекты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7099ED-C396-4B20-8F93-A9F34566BF50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4E32A-FBCC-4664-9BAA-69437E1F1212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5458D-D1DF-49EE-A7F0-830FBBFED264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7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26028-4DFF-4EF6-9EB6-9F7ABCBAB556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Оборот тары 80/20: без развилки короба копятся, вскрытие блокируется на ~45 % — теряется ~60 % пропускной. Решение: развилка + сток брака + машина новых КТЯ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Возврат nonsort: ручной разбор 250 тов/ч на человека, ~50 % назад в поток, ~50 % в роллкейджи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400 направлений, профиль Парето (alpha≈1.08): 1-е ~18 600 тов/ч, последнее ~29 тов/ч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Две стадии 20×20: наивная группировка «подряд» теряет 56 % выхода — нужна балансировка групп</a:t>
            </a:r>
          </a:p>
        </p:txBody>
      </p:sp>
    </p:spTree>
    <p:extLst>
      <p:ext uri="{BB962C8B-B14F-4D97-AF65-F5344CB8AC3E}">
        <p14:creationId xmlns:p14="http://schemas.microsoft.com/office/powerpoint/2010/main" val="157080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C855CB-68A1-43C5-A161-3D30DA124E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EF5FC64-15B9-4935-9031-897162091E33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0C024-E2DD-4995-87B6-3FD30F388ADE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Компоновка, площадь и автоматизация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C56FAF-5D4E-45DA-91EF-A05FDBDC2F3D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ADABF-7F83-4535-BBCC-666967990826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012436-C38F-4745-A484-182D63960405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8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C0220-0708-4FA5-9D9C-F351DB0B7D89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Площадь — результат расчёта: оборудование 9 870 + буферы 1 440 + накопители 400, ×1.35 проходы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ИТОГО площадь ≈ 15 809 м² — ниже ориентира 20 000–24 000 (выше балл)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Штат ≈ 163 человека против 800 при полностью ручной схеме — вот уровень автоматизации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Парк: 10 сортировщиков + 20 секций 2-й стадии + 6 погрузчиков + 24 ворот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2D-план цеха (results/plan.html): тепловая карта загрузки, конвейеры, узкое место</a:t>
            </a:r>
          </a:p>
        </p:txBody>
      </p:sp>
    </p:spTree>
    <p:extLst>
      <p:ext uri="{BB962C8B-B14F-4D97-AF65-F5344CB8AC3E}">
        <p14:creationId xmlns:p14="http://schemas.microsoft.com/office/powerpoint/2010/main" val="376499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8E47E62-4486-4861-9133-02588F667C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7DE2D34-F2F3-4F9E-9027-6E3512C00537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862E9-0082-451D-855C-97843105BC3C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Сценарии: стресс-тест одной конфигурации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B4A969C-C3F4-45D5-97D8-567C62CD77C4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2523D-1CCB-4978-8C39-1B9AE8ABB3F0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CF9E8B-3FC1-4B5E-B94A-1C9C4530799E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9 / 13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EA3D41D-7FDC-4AA1-9D11-BEA97BC65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93587"/>
              </p:ext>
            </p:extLst>
          </p:nvPr>
        </p:nvGraphicFramePr>
        <p:xfrm>
          <a:off x="635000" y="1498600"/>
          <a:ext cx="10947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4093444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46669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025715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75499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3369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Сценарий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Вход тов/ч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Выход КТЯ/ч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Узкое место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В центре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91848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Номинал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99 900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3 391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unKTU (92 %)</a:t>
                      </a:r>
                      <a:endParaRPr lang="ru-RU" sz="1200" b="0">
                        <a:solidFill>
                          <a:srgbClr val="E2E8F0"/>
                        </a:solidFill>
                        <a:latin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9.6 мин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8778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Пик +50 %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149 940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3 465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Депалетизация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35.3 мин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33285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Пик +100 %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199 980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3 463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Депалетизация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49.6 мин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59345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Рост 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nonsort 15 %</a:t>
                      </a:r>
                      <a:endParaRPr lang="ru-RU" sz="12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99 900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3 027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unKTU</a:t>
                      </a:r>
                      <a:endParaRPr lang="ru-RU" sz="1200" b="0">
                        <a:solidFill>
                          <a:srgbClr val="E2E8F0"/>
                        </a:solidFill>
                        <a:latin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10.8 мин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2876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Отказ секции (1 ч)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99 900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2 333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unKTU</a:t>
                      </a:r>
                      <a:endParaRPr lang="ru-RU" sz="1200" b="0">
                        <a:solidFill>
                          <a:srgbClr val="E2E8F0"/>
                        </a:solidFill>
                        <a:latin typeface="Segoe UI" panose="020B0502040204020203" pitchFamily="34" charset="0"/>
                      </a:endParaRP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39.5 мин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2590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9B561B-2C13-4E61-A1E7-DE745420815C}"/>
              </a:ext>
            </a:extLst>
          </p:cNvPr>
          <p:cNvSpPr txBox="1"/>
          <p:nvPr/>
        </p:nvSpPr>
        <p:spPr>
          <a:xfrm>
            <a:off x="635000" y="49022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300">
                <a:solidFill>
                  <a:srgbClr val="F59E0B"/>
                </a:solidFill>
                <a:latin typeface="Segoe UI" panose="020B0502040204020203" pitchFamily="34" charset="0"/>
              </a:rPr>
              <a:t>Главный вывод: пик не увеличивает выход, а копит очередь — время в центре растёт с 10 до 35–50 мин.</a:t>
            </a:r>
          </a:p>
        </p:txBody>
      </p:sp>
    </p:spTree>
    <p:extLst>
      <p:ext uri="{BB962C8B-B14F-4D97-AF65-F5344CB8AC3E}">
        <p14:creationId xmlns:p14="http://schemas.microsoft.com/office/powerpoint/2010/main" val="82110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CF3839-70BD-4077-8BE0-36BE7BF38C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E1FCD9-65D7-4CB4-9042-6C0E2B815DE9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5E9E9-D0B5-4E49-B0A5-B12191178FD7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Метрики и результаты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19CC57-E5A8-48AD-B264-9BEABF4833D3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7B71A-A825-4AD7-830B-79775A06F903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BEBC4-9C5D-4052-9232-663E60EEE071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10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6A20E-9736-44D5-AAAD-08DF1D943FA1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Сортировка обрабатывает ~100 000 товаров/ч — целевой поток достигнут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Сквозной выход ~10 машин/ч; время товара в центре ~50 мин (приёмка → отгрузка)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Заполняемость КТЯ 27/27; пик 400 ячеек-накопителей (≈ по одной на направление)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Метрики по каждой операции и по системе, интервалы 1 мин / 1 ч / 12 ч / 24 ч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Параметры меняются: интенсивность потока, доля nonsort, отказы узлов, мощности</a:t>
            </a:r>
          </a:p>
          <a:p>
            <a:pPr>
              <a:spcAft>
                <a:spcPts val="800"/>
              </a:spcAft>
            </a:pPr>
            <a:r>
              <a:rPr lang="ru-RU" sz="1600">
                <a:solidFill>
                  <a:srgbClr val="E2E8F0"/>
                </a:solidFill>
                <a:latin typeface="Segoe UI" panose="020B0502040204020203" pitchFamily="34" charset="0"/>
              </a:rPr>
              <a:t>•  Выгрузка в CSV (object, metric, value, unit) — общий формат для обеих моделей</a:t>
            </a:r>
          </a:p>
        </p:txBody>
      </p:sp>
    </p:spTree>
    <p:extLst>
      <p:ext uri="{BB962C8B-B14F-4D97-AF65-F5344CB8AC3E}">
        <p14:creationId xmlns:p14="http://schemas.microsoft.com/office/powerpoint/2010/main" val="3639258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ED3925-1D60-4C2C-A18B-4C1C9228BE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8E6BEA8-413F-4CCE-9D67-8F7C68F9BF68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DAE38-05DD-416D-9699-C665CFF0D7D3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Сверка двух моделей — доказательство корректности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A39C42-BF8F-43FE-BEB6-9CF716F663D9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F340F-FADF-4829-AF5B-F0EA927ABCC4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B0E43-948F-4AAE-88AB-016436C3231E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11 / 13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8B71B67-691F-4B14-BC39-C8E3FFDC5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251546"/>
              </p:ext>
            </p:extLst>
          </p:nvPr>
        </p:nvGraphicFramePr>
        <p:xfrm>
          <a:off x="635000" y="1498600"/>
          <a:ext cx="10947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33475876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675382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831822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0429446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Узел / величина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Аналитика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Симуляция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>
                          <a:solidFill>
                            <a:srgbClr val="0E1A2B"/>
                          </a:solidFill>
                          <a:latin typeface="Segoe UI" panose="020B0502040204020203" pitchFamily="34" charset="0"/>
                        </a:rPr>
                        <a:t>Расхождение</a:t>
                      </a:r>
                    </a:p>
                  </a:txBody>
                  <a:tcPr anchor="ctr"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8898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unKTU (</a:t>
                      </a:r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вскрытие)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92.6 %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92.1 %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0.5 пп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91359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Sort1 (</a:t>
                      </a:r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сортировка)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90.9 %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89.8 %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1.1 пп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07872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Секции 2-й стадии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66–80 %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64–79 %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≤ 2 пп</a:t>
                      </a:r>
                    </a:p>
                  </a:txBody>
                  <a:tcPr anchor="ctr">
                    <a:solidFill>
                      <a:srgbClr val="0E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03604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ru-RU" sz="12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Профиль направлений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20 групп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20 групп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Δ = 0 (</a:t>
                      </a:r>
                      <a:r>
                        <a:rPr lang="ru-RU" sz="1200" b="0">
                          <a:solidFill>
                            <a:srgbClr val="E2E8F0"/>
                          </a:solidFill>
                          <a:latin typeface="Segoe UI" panose="020B0502040204020203" pitchFamily="34" charset="0"/>
                        </a:rPr>
                        <a:t>идентичны)</a:t>
                      </a:r>
                    </a:p>
                  </a:txBody>
                  <a:tcPr anchor="ctr">
                    <a:solidFill>
                      <a:srgbClr val="162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4561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A0C26AE-F4C2-4989-8187-6B282B8CA2AA}"/>
              </a:ext>
            </a:extLst>
          </p:cNvPr>
          <p:cNvSpPr txBox="1"/>
          <p:nvPr/>
        </p:nvSpPr>
        <p:spPr>
          <a:xfrm>
            <a:off x="635000" y="43688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300">
                <a:solidFill>
                  <a:srgbClr val="F59E0B"/>
                </a:solidFill>
                <a:latin typeface="Segoe UI" panose="020B0502040204020203" pitchFamily="34" charset="0"/>
              </a:rPr>
              <a:t>Две независимые модели сходятся. Где расходятся (выходная сторона) — симуляция вскрывает backpressure, невидимый балансам.</a:t>
            </a:r>
          </a:p>
        </p:txBody>
      </p:sp>
    </p:spTree>
    <p:extLst>
      <p:ext uri="{BB962C8B-B14F-4D97-AF65-F5344CB8AC3E}">
        <p14:creationId xmlns:p14="http://schemas.microsoft.com/office/powerpoint/2010/main" val="1328618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B89926A-EBED-4306-9448-5B089C9A0F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4014C0-6107-41F1-8F53-B1E86B5A0BB5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FB8DE-F2EB-4F38-A126-BB85131C8277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Стек и воспроизводимость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0B88B23-7E57-4FBA-BE3B-D6A9DCDAF318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08083-3134-4824-80A5-7571887B369C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795CE-EE67-4EDB-8FEA-79AE7D668350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12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E07DC6-7634-4F51-855C-F2C2DDB7B6D8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E2E8F0"/>
                </a:solidFill>
                <a:latin typeface="Segoe UI" panose="020B0502040204020203" pitchFamily="34" charset="0"/>
              </a:rPr>
              <a:t>•  Python 3.12 + SimPy 4 + NumPy — </a:t>
            </a: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всё из разрешённого перечня ПО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Собственная реализация: прозрачная логика, воспроизводимость, проверяемость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Всё самодостаточно и офлайн (важно для изолированного сервера проверки)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</a:t>
            </a:r>
            <a:r>
              <a:rPr lang="en-US" sz="1500">
                <a:solidFill>
                  <a:srgbClr val="E2E8F0"/>
                </a:solidFill>
                <a:latin typeface="Segoe UI" panose="020B0502040204020203" pitchFamily="34" charset="0"/>
              </a:rPr>
              <a:t>GitHub-</a:t>
            </a: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репозиторий; результаты — </a:t>
            </a:r>
            <a:r>
              <a:rPr lang="en-US" sz="1500">
                <a:solidFill>
                  <a:srgbClr val="E2E8F0"/>
                </a:solidFill>
                <a:latin typeface="Segoe UI" panose="020B0502040204020203" pitchFamily="34" charset="0"/>
              </a:rPr>
              <a:t>CSV </a:t>
            </a: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и самодостаточный </a:t>
            </a:r>
            <a:r>
              <a:rPr lang="en-US" sz="1500">
                <a:solidFill>
                  <a:srgbClr val="E2E8F0"/>
                </a:solidFill>
                <a:latin typeface="Segoe UI" panose="020B0502040204020203" pitchFamily="34" charset="0"/>
              </a:rPr>
              <a:t>HTML-</a:t>
            </a: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план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Запуск одной командой: </a:t>
            </a:r>
            <a:r>
              <a:rPr lang="en-US" sz="1500">
                <a:solidFill>
                  <a:srgbClr val="E2E8F0"/>
                </a:solidFill>
                <a:latin typeface="Segoe UI" panose="020B0502040204020203" pitchFamily="34" charset="0"/>
              </a:rPr>
              <a:t>python -m core.analitic.run / core.simulator.run / core.validation.compare</a:t>
            </a:r>
            <a:endParaRPr lang="ru-RU" sz="15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934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08A72F-EE84-49CF-B8B6-A4DA4CD770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8F675-92E2-4252-A335-B93CD7E776FB}"/>
              </a:ext>
            </a:extLst>
          </p:cNvPr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1B645-AB22-4F41-B16C-295797DB2822}"/>
              </a:ext>
            </a:extLst>
          </p:cNvPr>
          <p:cNvSpPr txBox="1"/>
          <p:nvPr/>
        </p:nvSpPr>
        <p:spPr>
          <a:xfrm>
            <a:off x="584200" y="381000"/>
            <a:ext cx="1102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2700" b="1">
                <a:solidFill>
                  <a:srgbClr val="FFFFFF"/>
                </a:solidFill>
                <a:latin typeface="Segoe UI" panose="020B0502040204020203" pitchFamily="34" charset="0"/>
              </a:rPr>
              <a:t>Ограничения и направления развития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BE986EC-31E3-40F1-9CF0-9ACB9A65CCE9}"/>
              </a:ext>
            </a:extLst>
          </p:cNvPr>
          <p:cNvSpPr/>
          <p:nvPr/>
        </p:nvSpPr>
        <p:spPr>
          <a:xfrm>
            <a:off x="635000" y="1117600"/>
            <a:ext cx="1397000" cy="5080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8749A-1462-4887-B616-38CC316419B5}"/>
              </a:ext>
            </a:extLst>
          </p:cNvPr>
          <p:cNvSpPr txBox="1"/>
          <p:nvPr/>
        </p:nvSpPr>
        <p:spPr>
          <a:xfrm>
            <a:off x="508000" y="6527800"/>
            <a:ext cx="965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Граф-конструктор сортировочного центра · Трек 1: имитационное моделирование потоков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6154B-360E-4E4E-A6EE-D539990E0320}"/>
              </a:ext>
            </a:extLst>
          </p:cNvPr>
          <p:cNvSpPr txBox="1"/>
          <p:nvPr/>
        </p:nvSpPr>
        <p:spPr>
          <a:xfrm>
            <a:off x="10414000" y="6527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>
              <a:spcAft>
                <a:spcPts val="800"/>
              </a:spcAft>
            </a:pPr>
            <a:r>
              <a:rPr lang="ru-RU" sz="900">
                <a:solidFill>
                  <a:srgbClr val="94A3B8"/>
                </a:solidFill>
                <a:latin typeface="Segoe UI" panose="020B0502040204020203" pitchFamily="34" charset="0"/>
              </a:rPr>
              <a:t>13 /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A2340-CBBC-46E3-B75B-C24198B3DF96}"/>
              </a:ext>
            </a:extLst>
          </p:cNvPr>
          <p:cNvSpPr txBox="1"/>
          <p:nvPr/>
        </p:nvSpPr>
        <p:spPr>
          <a:xfrm>
            <a:off x="635000" y="1422400"/>
            <a:ext cx="1094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Визуализация — 2D-план готов; 3D-сцена и GUI-редактор графа — следующий этап (выше балл за детализацию)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Второй способ решения балансов (numpy.linalg.solve) — как дополнительная перекрёстная проверка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Аналитика считает идеальный стационар; предел линии ~90–95 % номинала из-за backpressure — это находка симуляции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Нормативы штата и площади помечены [PDF] / [ДОП] и меняются в одном конфиге</a:t>
            </a:r>
          </a:p>
          <a:p>
            <a:pPr>
              <a:spcAft>
                <a:spcPts val="800"/>
              </a:spcAft>
            </a:pPr>
            <a:r>
              <a:rPr lang="ru-RU" sz="1500">
                <a:solidFill>
                  <a:srgbClr val="E2E8F0"/>
                </a:solidFill>
                <a:latin typeface="Segoe UI" panose="020B0502040204020203" pitchFamily="34" charset="0"/>
              </a:rPr>
              <a:t>•  Спасибо за внимание. 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857994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1279</Words>
  <Application>Microsoft Office PowerPoint</Application>
  <PresentationFormat>Произвольный</PresentationFormat>
  <Paragraphs>159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Стас</dc:creator>
  <cp:lastModifiedBy>Стас</cp:lastModifiedBy>
  <cp:revision>1</cp:revision>
  <dcterms:created xsi:type="dcterms:W3CDTF">2026-07-31T09:43:46Z</dcterms:created>
  <dcterms:modified xsi:type="dcterms:W3CDTF">2026-07-31T09:43:46Z</dcterms:modified>
</cp:coreProperties>
</file>